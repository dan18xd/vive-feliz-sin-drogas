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2" r:id="rId6"/>
    <p:sldId id="263" r:id="rId7"/>
    <p:sldId id="260" r:id="rId8"/>
    <p:sldId id="261" r:id="rId9"/>
    <p:sldId id="264"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p:cViewPr varScale="1">
        <p:scale>
          <a:sx n="63" d="100"/>
          <a:sy n="63" d="100"/>
        </p:scale>
        <p:origin x="10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4B5F11-894D-1384-A0AE-2AE044075FC2}"/>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0885F31E-2A8E-3A5F-E362-FABA391666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D1C5BC43-74FE-9BEE-88E2-16FEB687BB50}"/>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5" name="Marcador de pie de página 4">
            <a:extLst>
              <a:ext uri="{FF2B5EF4-FFF2-40B4-BE49-F238E27FC236}">
                <a16:creationId xmlns:a16="http://schemas.microsoft.com/office/drawing/2014/main" id="{F08F7C34-04E4-071B-C373-A7EBD2E1465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DF4B72E-0F09-8D69-ED75-9A0D24CB45C7}"/>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143844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10C4C-5608-1550-E329-559F8E0CDD4A}"/>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F04B7845-1097-A1BE-3999-0F84DDEDA5E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06D9B588-5B8D-6489-8F5E-A4021A3E2C59}"/>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5" name="Marcador de pie de página 4">
            <a:extLst>
              <a:ext uri="{FF2B5EF4-FFF2-40B4-BE49-F238E27FC236}">
                <a16:creationId xmlns:a16="http://schemas.microsoft.com/office/drawing/2014/main" id="{E3EA6F57-C992-E970-A69E-BFCF653CC76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09666B8-1568-5D84-592A-0DAB0C0FD38B}"/>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642639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980C2-E09E-74B8-C2A8-21D03AB6632C}"/>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89E804C8-1941-8FBC-952E-ED83A7795A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054C3628-5D9F-77C4-DEFA-1CA577287A26}"/>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5" name="Marcador de pie de página 4">
            <a:extLst>
              <a:ext uri="{FF2B5EF4-FFF2-40B4-BE49-F238E27FC236}">
                <a16:creationId xmlns:a16="http://schemas.microsoft.com/office/drawing/2014/main" id="{8DDA8BCE-0927-76F2-0770-A2BC26825D3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16D5EC6-189C-B77B-CE06-D79D2E533A9E}"/>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342771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E54540-D116-9219-97D7-741BEF04914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817AB03E-3941-2C8A-C370-02B48A6FD95F}"/>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DE85110D-C846-D04E-95F0-33293C2F0846}"/>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BC683495-E079-AC36-BFBB-CAE2D1770058}"/>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6" name="Marcador de pie de página 5">
            <a:extLst>
              <a:ext uri="{FF2B5EF4-FFF2-40B4-BE49-F238E27FC236}">
                <a16:creationId xmlns:a16="http://schemas.microsoft.com/office/drawing/2014/main" id="{CBB65627-C3CF-B033-F995-24F01550051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35D4487-5878-87A2-F330-8CA1F6D9B191}"/>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1705370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1D7F7-E1A9-8318-D8B8-18FC669D4121}"/>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7E3618B-0339-EB14-F0DA-F2D989122C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37B2BB3-FE32-33B8-7B6C-A46738E6D023}"/>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0EA8F3A0-54B0-EF0B-C6AD-48791ABA1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40340C3-895C-6B7A-97D1-82E301C26E46}"/>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1982F4C0-10A6-8513-1DEF-44631D33C49F}"/>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8" name="Marcador de pie de página 7">
            <a:extLst>
              <a:ext uri="{FF2B5EF4-FFF2-40B4-BE49-F238E27FC236}">
                <a16:creationId xmlns:a16="http://schemas.microsoft.com/office/drawing/2014/main" id="{903B8734-F167-B5B6-B5D0-5EB78EC9829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7F4D141-D402-45DB-E302-591821A5D7DA}"/>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1860926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D3B48F-3CE6-E650-DD9E-C1C51AEC5B73}"/>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D747E631-E485-BAEC-F121-024A67E66D99}"/>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4" name="Marcador de pie de página 3">
            <a:extLst>
              <a:ext uri="{FF2B5EF4-FFF2-40B4-BE49-F238E27FC236}">
                <a16:creationId xmlns:a16="http://schemas.microsoft.com/office/drawing/2014/main" id="{C3D543DB-F6E9-4983-F25E-0B69C8F4613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8F30784-7D92-DB8D-558E-ECD41F8CDB3B}"/>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2106650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691B5A3-4E10-E09E-B923-74557BCA86C6}"/>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3" name="Marcador de pie de página 2">
            <a:extLst>
              <a:ext uri="{FF2B5EF4-FFF2-40B4-BE49-F238E27FC236}">
                <a16:creationId xmlns:a16="http://schemas.microsoft.com/office/drawing/2014/main" id="{4A9C5070-6995-D194-4F79-A1586EF7CA3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EF8F94C-4142-4703-1221-FA3AE442931C}"/>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412702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5ED07F-2D59-FC69-1036-A07CFDFDE3D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BB8AFBE6-3B1E-D591-0B69-22A5A8A58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BC8FAE76-E4E6-F27F-F131-837F1D619B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BC8468F-9070-5D06-84A1-3FCC9B1A8378}"/>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6" name="Marcador de pie de página 5">
            <a:extLst>
              <a:ext uri="{FF2B5EF4-FFF2-40B4-BE49-F238E27FC236}">
                <a16:creationId xmlns:a16="http://schemas.microsoft.com/office/drawing/2014/main" id="{8050508B-2D88-962C-2195-B5B292F98AC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990F371-2B9B-E0FC-ED74-64F5A05DE0A0}"/>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1975266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5AA69-C35E-1DFB-22AB-8FEE50AC33A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6727664B-32BC-2FBF-7B36-3B8EB531DD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C318B8A-1905-0837-B98F-3DE39EAC09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EE7718D-7F52-19FC-1677-8B2D7C1CD921}"/>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6" name="Marcador de pie de página 5">
            <a:extLst>
              <a:ext uri="{FF2B5EF4-FFF2-40B4-BE49-F238E27FC236}">
                <a16:creationId xmlns:a16="http://schemas.microsoft.com/office/drawing/2014/main" id="{8EED201E-4FBE-361A-35BE-865C891B235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3A2BEEF-0348-D460-6A3B-D040036AB639}"/>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407502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2E910E-B77B-559E-76B5-3785E191C934}"/>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0EBB5FAD-F449-2D57-0AD3-B0112EBD65F9}"/>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82BA67CB-2251-01AB-5AF4-FDD265974FD2}"/>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5" name="Marcador de pie de página 4">
            <a:extLst>
              <a:ext uri="{FF2B5EF4-FFF2-40B4-BE49-F238E27FC236}">
                <a16:creationId xmlns:a16="http://schemas.microsoft.com/office/drawing/2014/main" id="{A8340733-C4AE-F49A-C810-B56580C964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A1FD5D1-117D-7F46-64AE-66C8F3E08973}"/>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3984678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D8D3038-E5E0-E724-DAAE-7290C0A3116E}"/>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2E73E48F-B1E9-94D8-ADF4-C89F0595E2B9}"/>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8ACC2B6-43D8-A24F-818A-A0B400335AAE}"/>
              </a:ext>
            </a:extLst>
          </p:cNvPr>
          <p:cNvSpPr>
            <a:spLocks noGrp="1"/>
          </p:cNvSpPr>
          <p:nvPr>
            <p:ph type="dt" sz="half" idx="10"/>
          </p:nvPr>
        </p:nvSpPr>
        <p:spPr/>
        <p:txBody>
          <a:bodyPr/>
          <a:lstStyle/>
          <a:p>
            <a:fld id="{53E4826C-55B0-4CF4-B991-025C525B86AA}" type="datetimeFigureOut">
              <a:rPr lang="es-MX" smtClean="0"/>
              <a:t>15/01/2026</a:t>
            </a:fld>
            <a:endParaRPr lang="es-MX"/>
          </a:p>
        </p:txBody>
      </p:sp>
      <p:sp>
        <p:nvSpPr>
          <p:cNvPr id="5" name="Marcador de pie de página 4">
            <a:extLst>
              <a:ext uri="{FF2B5EF4-FFF2-40B4-BE49-F238E27FC236}">
                <a16:creationId xmlns:a16="http://schemas.microsoft.com/office/drawing/2014/main" id="{D2027263-AB8B-3663-CE7D-67EFFF20EF7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879F4E6-CE14-A4B6-D6B8-97FEA37D5E1D}"/>
              </a:ext>
            </a:extLst>
          </p:cNvPr>
          <p:cNvSpPr>
            <a:spLocks noGrp="1"/>
          </p:cNvSpPr>
          <p:nvPr>
            <p:ph type="sldNum" sz="quarter" idx="12"/>
          </p:nvPr>
        </p:nvSpPr>
        <p:spPr/>
        <p:txBody>
          <a:bodyPr/>
          <a:lstStyle/>
          <a:p>
            <a:fld id="{6431ACA5-C2E4-441E-A568-FD26B9AC354A}" type="slidenum">
              <a:rPr lang="es-MX" smtClean="0"/>
              <a:t>‹Nº›</a:t>
            </a:fld>
            <a:endParaRPr lang="es-MX"/>
          </a:p>
        </p:txBody>
      </p:sp>
    </p:spTree>
    <p:extLst>
      <p:ext uri="{BB962C8B-B14F-4D97-AF65-F5344CB8AC3E}">
        <p14:creationId xmlns:p14="http://schemas.microsoft.com/office/powerpoint/2010/main" val="2565083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4042667-B029-CF8A-BF9E-984E17AD15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B861AEF8-24BE-D2D5-58CA-67FFE96AF4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D1316DF-EDFB-7188-F79F-EE85436DAD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E4826C-55B0-4CF4-B991-025C525B86AA}" type="datetimeFigureOut">
              <a:rPr lang="es-MX" smtClean="0"/>
              <a:t>15/01/2026</a:t>
            </a:fld>
            <a:endParaRPr lang="es-MX"/>
          </a:p>
        </p:txBody>
      </p:sp>
      <p:sp>
        <p:nvSpPr>
          <p:cNvPr id="5" name="Marcador de pie de página 4">
            <a:extLst>
              <a:ext uri="{FF2B5EF4-FFF2-40B4-BE49-F238E27FC236}">
                <a16:creationId xmlns:a16="http://schemas.microsoft.com/office/drawing/2014/main" id="{BB561882-72A0-5845-B9DC-822AACFED6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C83AEC27-CF59-CF02-08DE-D0F9E0A378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31ACA5-C2E4-441E-A568-FD26B9AC354A}" type="slidenum">
              <a:rPr lang="es-MX" smtClean="0"/>
              <a:t>‹Nº›</a:t>
            </a:fld>
            <a:endParaRPr lang="es-MX"/>
          </a:p>
        </p:txBody>
      </p:sp>
    </p:spTree>
    <p:extLst>
      <p:ext uri="{BB962C8B-B14F-4D97-AF65-F5344CB8AC3E}">
        <p14:creationId xmlns:p14="http://schemas.microsoft.com/office/powerpoint/2010/main" val="465835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liadosdasaude.blogspot.com/2015/07/10-efeitos-que-voce-nao-sabia-que-as-drogas-causam.html"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EC95BD-7B85-35F4-B127-E05B207F0272}"/>
              </a:ext>
            </a:extLst>
          </p:cNvPr>
          <p:cNvSpPr>
            <a:spLocks noGrp="1"/>
          </p:cNvSpPr>
          <p:nvPr>
            <p:ph type="ctrTitle"/>
          </p:nvPr>
        </p:nvSpPr>
        <p:spPr>
          <a:xfrm>
            <a:off x="1524000" y="1"/>
            <a:ext cx="9144000" cy="2032000"/>
          </a:xfrm>
        </p:spPr>
        <p:txBody>
          <a:bodyPr/>
          <a:lstStyle/>
          <a:p>
            <a:r>
              <a:rPr lang="es-MX" dirty="0">
                <a:latin typeface="Arial Black" panose="020B0A04020102020204" pitchFamily="34" charset="0"/>
              </a:rPr>
              <a:t>CECYTOS LIBRE DE VIOLENCIA</a:t>
            </a:r>
          </a:p>
        </p:txBody>
      </p:sp>
      <p:sp>
        <p:nvSpPr>
          <p:cNvPr id="5" name="Subtítulo 4">
            <a:extLst>
              <a:ext uri="{FF2B5EF4-FFF2-40B4-BE49-F238E27FC236}">
                <a16:creationId xmlns:a16="http://schemas.microsoft.com/office/drawing/2014/main" id="{CC4170BF-901A-5BA5-FE61-6427AD432BE7}"/>
              </a:ext>
            </a:extLst>
          </p:cNvPr>
          <p:cNvSpPr>
            <a:spLocks noGrp="1"/>
          </p:cNvSpPr>
          <p:nvPr>
            <p:ph type="subTitle" idx="1"/>
          </p:nvPr>
        </p:nvSpPr>
        <p:spPr>
          <a:xfrm>
            <a:off x="-2328069" y="6030119"/>
            <a:ext cx="11704297" cy="1655762"/>
          </a:xfrm>
        </p:spPr>
        <p:txBody>
          <a:bodyPr/>
          <a:lstStyle/>
          <a:p>
            <a:r>
              <a:rPr lang="es-MX" dirty="0"/>
              <a:t>II</a:t>
            </a:r>
          </a:p>
        </p:txBody>
      </p:sp>
      <p:pic>
        <p:nvPicPr>
          <p:cNvPr id="7170" name="Picture 2" descr="CECyTEM Toluca">
            <a:extLst>
              <a:ext uri="{FF2B5EF4-FFF2-40B4-BE49-F238E27FC236}">
                <a16:creationId xmlns:a16="http://schemas.microsoft.com/office/drawing/2014/main" id="{065F0FC6-DE99-3F36-1B44-D3FC05662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1942" y="2032001"/>
            <a:ext cx="6894286" cy="475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869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961C50-F0CA-97DB-8E5C-5DA911811E39}"/>
              </a:ext>
            </a:extLst>
          </p:cNvPr>
          <p:cNvSpPr>
            <a:spLocks noGrp="1"/>
          </p:cNvSpPr>
          <p:nvPr>
            <p:ph type="title"/>
          </p:nvPr>
        </p:nvSpPr>
        <p:spPr/>
        <p:txBody>
          <a:bodyPr/>
          <a:lstStyle/>
          <a:p>
            <a:r>
              <a:rPr lang="es-MX" b="1" dirty="0"/>
              <a:t>                      ¿Qué son las drogas?</a:t>
            </a:r>
            <a:br>
              <a:rPr lang="es-MX" dirty="0"/>
            </a:br>
            <a:endParaRPr lang="es-MX" dirty="0"/>
          </a:p>
        </p:txBody>
      </p:sp>
      <p:sp>
        <p:nvSpPr>
          <p:cNvPr id="3" name="Marcador de contenido 2">
            <a:extLst>
              <a:ext uri="{FF2B5EF4-FFF2-40B4-BE49-F238E27FC236}">
                <a16:creationId xmlns:a16="http://schemas.microsoft.com/office/drawing/2014/main" id="{B71B742C-B806-806C-B2A1-21F72045D3EB}"/>
              </a:ext>
            </a:extLst>
          </p:cNvPr>
          <p:cNvSpPr>
            <a:spLocks noGrp="1"/>
          </p:cNvSpPr>
          <p:nvPr>
            <p:ph idx="1"/>
          </p:nvPr>
        </p:nvSpPr>
        <p:spPr/>
        <p:txBody>
          <a:bodyPr/>
          <a:lstStyle/>
          <a:p>
            <a:r>
              <a:rPr lang="es-MX" dirty="0"/>
              <a:t>Las drogas son sustancias que, cuando se meten en el organismo, provocan cambios en la mente o en las funciones del cuerpo. Las drogas son generalmente clasificadas como drogas de prescripción médica (medicamentos recetados) o drogas ilícitas, aunque hay poca diferencia entre algunos de los medicamentos recetados y las drogas de la calle. Por ejemplo, la heroína, una droga de la calle, es muy similar químicamente al medicamento de prescripción médica llamado oxicodona.</a:t>
            </a:r>
          </a:p>
        </p:txBody>
      </p:sp>
      <p:sp>
        <p:nvSpPr>
          <p:cNvPr id="4" name="Rectangle 1">
            <a:extLst>
              <a:ext uri="{FF2B5EF4-FFF2-40B4-BE49-F238E27FC236}">
                <a16:creationId xmlns:a16="http://schemas.microsoft.com/office/drawing/2014/main" id="{EF5CE9B9-27A1-D6C2-6D8C-BFC25D124CAB}"/>
              </a:ext>
            </a:extLst>
          </p:cNvPr>
          <p:cNvSpPr>
            <a:spLocks noChangeArrowheads="1"/>
          </p:cNvSpPr>
          <p:nvPr/>
        </p:nvSpPr>
        <p:spPr bwMode="auto">
          <a:xfrm>
            <a:off x="0" y="-45310"/>
            <a:ext cx="65" cy="5478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9331"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1811A2D1-F5FA-A70C-AAA6-6FDD6EF99F55}"/>
              </a:ext>
            </a:extLst>
          </p:cNvPr>
          <p:cNvSpPr>
            <a:spLocks noChangeArrowheads="1"/>
          </p:cNvSpPr>
          <p:nvPr/>
        </p:nvSpPr>
        <p:spPr bwMode="auto">
          <a:xfrm>
            <a:off x="0" y="16245"/>
            <a:ext cx="65" cy="4247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9331"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000" b="0" i="0" u="none" strike="noStrike" cap="none" normalizeH="0" baseline="0" dirty="0">
              <a:ln>
                <a:noFill/>
              </a:ln>
              <a:solidFill>
                <a:srgbClr val="333333"/>
              </a:solidFill>
              <a:effectLst/>
              <a:latin typeface="Michroma"/>
            </a:endParaRPr>
          </a:p>
        </p:txBody>
      </p:sp>
    </p:spTree>
    <p:extLst>
      <p:ext uri="{BB962C8B-B14F-4D97-AF65-F5344CB8AC3E}">
        <p14:creationId xmlns:p14="http://schemas.microsoft.com/office/powerpoint/2010/main" val="391129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12463B-BC82-2D33-05B4-A79A6708DCB7}"/>
              </a:ext>
            </a:extLst>
          </p:cNvPr>
          <p:cNvSpPr>
            <a:spLocks noGrp="1"/>
          </p:cNvSpPr>
          <p:nvPr>
            <p:ph type="title"/>
          </p:nvPr>
        </p:nvSpPr>
        <p:spPr/>
        <p:txBody>
          <a:bodyPr/>
          <a:lstStyle/>
          <a:p>
            <a:r>
              <a:rPr lang="es-MX" dirty="0">
                <a:latin typeface="Arial Black" panose="020B0A04020102020204" pitchFamily="34" charset="0"/>
              </a:rPr>
              <a:t>         NO ALAS DROGAS</a:t>
            </a:r>
          </a:p>
        </p:txBody>
      </p:sp>
      <p:pic>
        <p:nvPicPr>
          <p:cNvPr id="5" name="Marcador de contenido 4">
            <a:extLst>
              <a:ext uri="{FF2B5EF4-FFF2-40B4-BE49-F238E27FC236}">
                <a16:creationId xmlns:a16="http://schemas.microsoft.com/office/drawing/2014/main" id="{A7987EB0-FA55-74F4-C9B6-A7FE65A41B68}"/>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14350" y="1343025"/>
            <a:ext cx="10715625" cy="3770253"/>
          </a:xfrm>
        </p:spPr>
      </p:pic>
      <p:sp>
        <p:nvSpPr>
          <p:cNvPr id="6" name="CuadroTexto 5">
            <a:extLst>
              <a:ext uri="{FF2B5EF4-FFF2-40B4-BE49-F238E27FC236}">
                <a16:creationId xmlns:a16="http://schemas.microsoft.com/office/drawing/2014/main" id="{FCB08D7B-122D-5D21-8A61-E5556F513E5F}"/>
              </a:ext>
            </a:extLst>
          </p:cNvPr>
          <p:cNvSpPr txBox="1"/>
          <p:nvPr/>
        </p:nvSpPr>
        <p:spPr>
          <a:xfrm>
            <a:off x="514350" y="5268118"/>
            <a:ext cx="10715625" cy="230832"/>
          </a:xfrm>
          <a:prstGeom prst="rect">
            <a:avLst/>
          </a:prstGeom>
          <a:noFill/>
        </p:spPr>
        <p:txBody>
          <a:bodyPr wrap="square" rtlCol="0">
            <a:spAutoFit/>
          </a:bodyPr>
          <a:lstStyle/>
          <a:p>
            <a:r>
              <a:rPr lang="es-MX" sz="900">
                <a:hlinkClick r:id="rId3" tooltip="https://aliadosdasaude.blogspot.com/2015/07/10-efeitos-que-voce-nao-sabia-que-as-drogas-causam.html"/>
              </a:rPr>
              <a:t>Esta foto</a:t>
            </a:r>
            <a:r>
              <a:rPr lang="es-MX" sz="900"/>
              <a:t> de Autor desconocido está bajo licencia </a:t>
            </a:r>
            <a:r>
              <a:rPr lang="es-MX" sz="900">
                <a:hlinkClick r:id="rId4" tooltip="https://creativecommons.org/licenses/by-nc/3.0/"/>
              </a:rPr>
              <a:t>CC BY-NC</a:t>
            </a:r>
            <a:endParaRPr lang="es-MX" sz="900"/>
          </a:p>
        </p:txBody>
      </p:sp>
    </p:spTree>
    <p:extLst>
      <p:ext uri="{BB962C8B-B14F-4D97-AF65-F5344CB8AC3E}">
        <p14:creationId xmlns:p14="http://schemas.microsoft.com/office/powerpoint/2010/main" val="3385151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99B3D-0517-5314-532E-324B4D8B17FA}"/>
              </a:ext>
            </a:extLst>
          </p:cNvPr>
          <p:cNvSpPr>
            <a:spLocks noGrp="1"/>
          </p:cNvSpPr>
          <p:nvPr>
            <p:ph type="title"/>
          </p:nvPr>
        </p:nvSpPr>
        <p:spPr/>
        <p:txBody>
          <a:bodyPr>
            <a:normAutofit fontScale="90000"/>
          </a:bodyPr>
          <a:lstStyle/>
          <a:p>
            <a:r>
              <a:rPr lang="es-MX" dirty="0">
                <a:latin typeface="Arial Black" panose="020B0A04020102020204" pitchFamily="34" charset="0"/>
              </a:rPr>
              <a:t>¿Qué hacen las drogas en el cuerpo?</a:t>
            </a:r>
            <a:br>
              <a:rPr lang="es-MX" dirty="0"/>
            </a:br>
            <a:endParaRPr lang="es-MX" dirty="0"/>
          </a:p>
        </p:txBody>
      </p:sp>
      <p:sp>
        <p:nvSpPr>
          <p:cNvPr id="3" name="Marcador de contenido 2">
            <a:extLst>
              <a:ext uri="{FF2B5EF4-FFF2-40B4-BE49-F238E27FC236}">
                <a16:creationId xmlns:a16="http://schemas.microsoft.com/office/drawing/2014/main" id="{874FC3FB-B812-9C53-0AF5-9650036EF234}"/>
              </a:ext>
            </a:extLst>
          </p:cNvPr>
          <p:cNvSpPr>
            <a:spLocks noGrp="1"/>
          </p:cNvSpPr>
          <p:nvPr>
            <p:ph idx="1"/>
          </p:nvPr>
        </p:nvSpPr>
        <p:spPr/>
        <p:txBody>
          <a:bodyPr/>
          <a:lstStyle/>
          <a:p>
            <a:r>
              <a:rPr lang="es-MX" dirty="0"/>
              <a:t>Las drogas son básicamente venenos en un grado u otro. Todas las drogas (lo que incluye a los fármacos) tienen algún efecto tóxico sobre el cuerpo, pero en el caso de drogas de prescripción médica útiles (medicamentos recetados útiles), los beneficios superan la toxicidad. En general, una pequeña cantidad de una droga actúa como un estimulante. Una cantidad mayor puede provocar sedación, sueño o pérdida del conocimiento y una cantidad aún más grande te va a matar. Esto es cierto para todas las drogas.</a:t>
            </a:r>
          </a:p>
        </p:txBody>
      </p:sp>
    </p:spTree>
    <p:extLst>
      <p:ext uri="{BB962C8B-B14F-4D97-AF65-F5344CB8AC3E}">
        <p14:creationId xmlns:p14="http://schemas.microsoft.com/office/powerpoint/2010/main" val="2507296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90C3D0-2DE1-FBD4-C723-9233CEB12C21}"/>
              </a:ext>
            </a:extLst>
          </p:cNvPr>
          <p:cNvSpPr>
            <a:spLocks noGrp="1"/>
          </p:cNvSpPr>
          <p:nvPr>
            <p:ph type="title"/>
          </p:nvPr>
        </p:nvSpPr>
        <p:spPr/>
        <p:txBody>
          <a:bodyPr/>
          <a:lstStyle/>
          <a:p>
            <a:r>
              <a:rPr lang="es-MX" dirty="0">
                <a:latin typeface="Arial Black" panose="020B0A04020102020204" pitchFamily="34" charset="0"/>
              </a:rPr>
              <a:t>GRAFICA CONSUMO DE ADOLESCENTES</a:t>
            </a:r>
          </a:p>
        </p:txBody>
      </p:sp>
      <p:pic>
        <p:nvPicPr>
          <p:cNvPr id="5122" name="Picture 2" descr="CMC: El impacto de las drogas en la sociedad-Antonio Cano Nº8">
            <a:extLst>
              <a:ext uri="{FF2B5EF4-FFF2-40B4-BE49-F238E27FC236}">
                <a16:creationId xmlns:a16="http://schemas.microsoft.com/office/drawing/2014/main" id="{D80D41C9-9E34-567D-3B1C-EA02376608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6457" y="2024505"/>
            <a:ext cx="6139542" cy="4216876"/>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6" descr="El consumo de metanfetamina se intensifica en México">
            <a:extLst>
              <a:ext uri="{FF2B5EF4-FFF2-40B4-BE49-F238E27FC236}">
                <a16:creationId xmlns:a16="http://schemas.microsoft.com/office/drawing/2014/main" id="{A17764AD-750B-43ED-80E1-3412638795BD}"/>
              </a:ext>
            </a:extLst>
          </p:cNvPr>
          <p:cNvSpPr>
            <a:spLocks noChangeAspect="1" noChangeArrowheads="1"/>
          </p:cNvSpPr>
          <p:nvPr/>
        </p:nvSpPr>
        <p:spPr bwMode="auto">
          <a:xfrm>
            <a:off x="4361543" y="4132943"/>
            <a:ext cx="5029200" cy="5029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54839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674993-8585-E1AD-2D14-680BA494CA23}"/>
              </a:ext>
            </a:extLst>
          </p:cNvPr>
          <p:cNvSpPr>
            <a:spLocks noGrp="1"/>
          </p:cNvSpPr>
          <p:nvPr>
            <p:ph type="title"/>
          </p:nvPr>
        </p:nvSpPr>
        <p:spPr/>
        <p:txBody>
          <a:bodyPr/>
          <a:lstStyle/>
          <a:p>
            <a:endParaRPr lang="es-MX"/>
          </a:p>
        </p:txBody>
      </p:sp>
      <p:pic>
        <p:nvPicPr>
          <p:cNvPr id="6162" name="Picture 18" descr="Salir de las drogas: el duro relato en primera persona de un adicto ...">
            <a:extLst>
              <a:ext uri="{FF2B5EF4-FFF2-40B4-BE49-F238E27FC236}">
                <a16:creationId xmlns:a16="http://schemas.microsoft.com/office/drawing/2014/main" id="{16E566DE-2B76-505F-9417-E24574927D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1927" y="365125"/>
            <a:ext cx="10661873" cy="6595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218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D18413C-F93B-BF0F-2B00-90048267A58D}"/>
              </a:ext>
            </a:extLst>
          </p:cNvPr>
          <p:cNvSpPr>
            <a:spLocks noGrp="1"/>
          </p:cNvSpPr>
          <p:nvPr>
            <p:ph idx="1"/>
          </p:nvPr>
        </p:nvSpPr>
        <p:spPr>
          <a:xfrm>
            <a:off x="838200" y="1228725"/>
            <a:ext cx="10515600" cy="3604532"/>
          </a:xfrm>
        </p:spPr>
        <p:txBody>
          <a:bodyPr>
            <a:normAutofit/>
          </a:bodyPr>
          <a:lstStyle/>
          <a:p>
            <a:pPr marL="0" indent="0">
              <a:buNone/>
            </a:pPr>
            <a:r>
              <a:rPr lang="es-MX" dirty="0"/>
              <a:t>El acoso escolar, también conocido como Bull ying, se refiere a cualquier forma de maltrato psicológico, verbal, físico o social que ocurre entre estudiantes de manera reiterada. Este fenómeno puede presentarse en el aula, en los patios escolares o a través de plataformas digitales, en cuyo caso se denomina ciberacoso</a:t>
            </a:r>
          </a:p>
          <a:p>
            <a:pPr marL="0" indent="0">
              <a:buNone/>
            </a:pPr>
            <a:endParaRPr lang="es-MX" dirty="0"/>
          </a:p>
        </p:txBody>
      </p:sp>
      <p:sp>
        <p:nvSpPr>
          <p:cNvPr id="6" name="AutoShape 6" descr="Dia internacional a la cero discriminación - El Diario Nica">
            <a:extLst>
              <a:ext uri="{FF2B5EF4-FFF2-40B4-BE49-F238E27FC236}">
                <a16:creationId xmlns:a16="http://schemas.microsoft.com/office/drawing/2014/main" id="{A77425EA-443D-3121-F19B-35CB4A330C9B}"/>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s-MX" dirty="0">
                <a:latin typeface="Arial Black" panose="020B0A04020102020204" pitchFamily="34" charset="0"/>
              </a:rPr>
              <a:t>      EL ACOSO ESCOLAR</a:t>
            </a:r>
          </a:p>
        </p:txBody>
      </p:sp>
    </p:spTree>
    <p:extLst>
      <p:ext uri="{BB962C8B-B14F-4D97-AF65-F5344CB8AC3E}">
        <p14:creationId xmlns:p14="http://schemas.microsoft.com/office/powerpoint/2010/main" val="3754356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D91E3D-143F-E92B-DC48-451B3DF69331}"/>
              </a:ext>
            </a:extLst>
          </p:cNvPr>
          <p:cNvSpPr>
            <a:spLocks noGrp="1"/>
          </p:cNvSpPr>
          <p:nvPr>
            <p:ph type="title"/>
          </p:nvPr>
        </p:nvSpPr>
        <p:spPr/>
        <p:txBody>
          <a:bodyPr/>
          <a:lstStyle/>
          <a:p>
            <a:r>
              <a:rPr lang="es-MX" dirty="0">
                <a:latin typeface="Arial Black" panose="020B0A04020102020204" pitchFamily="34" charset="0"/>
              </a:rPr>
              <a:t>             CONSECUENCIAS</a:t>
            </a:r>
          </a:p>
        </p:txBody>
      </p:sp>
      <p:pic>
        <p:nvPicPr>
          <p:cNvPr id="4098" name="Picture 2" descr="Día Internacional contra el Acoso Escolar">
            <a:extLst>
              <a:ext uri="{FF2B5EF4-FFF2-40B4-BE49-F238E27FC236}">
                <a16:creationId xmlns:a16="http://schemas.microsoft.com/office/drawing/2014/main" id="{C3EB74E7-110D-BEED-0CA9-B83F0906EB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4965" y="1442623"/>
            <a:ext cx="7422069" cy="5238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71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CB2100-BFAC-2F4D-77BD-8E03F222EF36}"/>
              </a:ext>
            </a:extLst>
          </p:cNvPr>
          <p:cNvSpPr>
            <a:spLocks noGrp="1"/>
          </p:cNvSpPr>
          <p:nvPr>
            <p:ph type="title"/>
          </p:nvPr>
        </p:nvSpPr>
        <p:spPr/>
        <p:txBody>
          <a:bodyPr/>
          <a:lstStyle/>
          <a:p>
            <a:endParaRPr lang="es-MX"/>
          </a:p>
        </p:txBody>
      </p:sp>
      <p:sp>
        <p:nvSpPr>
          <p:cNvPr id="22" name="AutoShape 36" descr="Radiografía del acoso escolar: menos casos, pero más &quot;crueles&quot; y ...">
            <a:extLst>
              <a:ext uri="{FF2B5EF4-FFF2-40B4-BE49-F238E27FC236}">
                <a16:creationId xmlns:a16="http://schemas.microsoft.com/office/drawing/2014/main" id="{7BE53C89-81AD-7C9A-3932-FB9669BF4E3F}"/>
              </a:ext>
            </a:extLst>
          </p:cNvPr>
          <p:cNvSpPr>
            <a:spLocks noChangeAspect="1" noChangeArrowheads="1"/>
          </p:cNvSpPr>
          <p:nvPr/>
        </p:nvSpPr>
        <p:spPr bwMode="auto">
          <a:xfrm>
            <a:off x="2484120" y="213360"/>
            <a:ext cx="3764280" cy="33680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1064" name="Picture 40" descr="Día Internacional contra el acoso escolar. Uno de cada cuatro alumnos ...">
            <a:extLst>
              <a:ext uri="{FF2B5EF4-FFF2-40B4-BE49-F238E27FC236}">
                <a16:creationId xmlns:a16="http://schemas.microsoft.com/office/drawing/2014/main" id="{B6F4D43D-CDEE-DB9E-1E21-2615BF0680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4071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284</Words>
  <Application>Microsoft Office PowerPoint</Application>
  <PresentationFormat>Panorámica</PresentationFormat>
  <Paragraphs>12</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Arial Black</vt:lpstr>
      <vt:lpstr>Calibri</vt:lpstr>
      <vt:lpstr>Calibri Light</vt:lpstr>
      <vt:lpstr>Michroma</vt:lpstr>
      <vt:lpstr>Tema de Office</vt:lpstr>
      <vt:lpstr>CECYTOS LIBRE DE VIOLENCIA</vt:lpstr>
      <vt:lpstr>                      ¿Qué son las drogas? </vt:lpstr>
      <vt:lpstr>         NO ALAS DROGAS</vt:lpstr>
      <vt:lpstr>¿Qué hacen las drogas en el cuerpo? </vt:lpstr>
      <vt:lpstr>GRAFICA CONSUMO DE ADOLESCENTES</vt:lpstr>
      <vt:lpstr>Presentación de PowerPoint</vt:lpstr>
      <vt:lpstr>      EL ACOSO ESCOLAR</vt:lpstr>
      <vt:lpstr>             CONSECUENCIAS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cesar luis</dc:creator>
  <cp:lastModifiedBy>cesar luis</cp:lastModifiedBy>
  <cp:revision>2</cp:revision>
  <dcterms:created xsi:type="dcterms:W3CDTF">2026-01-15T14:30:28Z</dcterms:created>
  <dcterms:modified xsi:type="dcterms:W3CDTF">2026-01-16T03:50:03Z</dcterms:modified>
</cp:coreProperties>
</file>